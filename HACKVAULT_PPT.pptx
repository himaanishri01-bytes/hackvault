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embeddedFontLst>
    <p:embeddedFont>
      <p:font typeface="Spline Sans"/>
      <p:bold r:id="rId15"/>
    </p:embeddedFont>
    <p:embeddedFont>
      <p:font typeface="Spline Sans Light"/>
      <p:regular r:id="rId16"/>
      <p:bold r:id="rId17"/>
    </p:embeddedFont>
    <p:embeddedFont>
      <p:font typeface="Barlow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arlow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font" Target="fonts/Barlow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SplineSans-bold.fntdata"/><Relationship Id="rId14" Type="http://schemas.openxmlformats.org/officeDocument/2006/relationships/slide" Target="slides/slide10.xml"/><Relationship Id="rId17" Type="http://schemas.openxmlformats.org/officeDocument/2006/relationships/font" Target="fonts/SplineSansLight-bold.fntdata"/><Relationship Id="rId16" Type="http://schemas.openxmlformats.org/officeDocument/2006/relationships/font" Target="fonts/SplineSansLight-regular.fntdata"/><Relationship Id="rId5" Type="http://schemas.openxmlformats.org/officeDocument/2006/relationships/slide" Target="slides/slide1.xml"/><Relationship Id="rId19" Type="http://schemas.openxmlformats.org/officeDocument/2006/relationships/font" Target="fonts/Barlow-bold.fntdata"/><Relationship Id="rId6" Type="http://schemas.openxmlformats.org/officeDocument/2006/relationships/slide" Target="slides/slide2.xml"/><Relationship Id="rId18" Type="http://schemas.openxmlformats.org/officeDocument/2006/relationships/font" Target="fonts/Barlow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Relationship Id="rId4" Type="http://schemas.openxmlformats.org/officeDocument/2006/relationships/image" Target="../media/image7.png"/><Relationship Id="rId5" Type="http://schemas.openxmlformats.org/officeDocument/2006/relationships/image" Target="../media/image21.png"/><Relationship Id="rId6" Type="http://schemas.openxmlformats.org/officeDocument/2006/relationships/image" Target="../media/image15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jpg"/><Relationship Id="rId4" Type="http://schemas.openxmlformats.org/officeDocument/2006/relationships/image" Target="../media/image14.png"/><Relationship Id="rId5" Type="http://schemas.openxmlformats.org/officeDocument/2006/relationships/image" Target="../media/image28.png"/><Relationship Id="rId6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8.png"/><Relationship Id="rId6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Relationship Id="rId4" Type="http://schemas.openxmlformats.org/officeDocument/2006/relationships/image" Target="../media/image17.png"/><Relationship Id="rId5" Type="http://schemas.openxmlformats.org/officeDocument/2006/relationships/image" Target="../media/image2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jp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3969023" y="548134"/>
            <a:ext cx="1045146" cy="234479"/>
          </a:xfrm>
          <a:prstGeom prst="roundRect">
            <a:avLst>
              <a:gd fmla="val 78969" name="adj"/>
            </a:avLst>
          </a:prstGeom>
          <a:solidFill>
            <a:srgbClr val="004D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4061594" y="594420"/>
            <a:ext cx="1317203" cy="141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950"/>
              <a:buFont typeface="Barlow"/>
              <a:buNone/>
            </a:pPr>
            <a:r>
              <a:rPr b="0" i="0" lang="en-US" sz="95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HACKATHON 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3969023" y="844302"/>
            <a:ext cx="4634954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2700"/>
              <a:buFont typeface="Spline Sans"/>
              <a:buNone/>
            </a:pPr>
            <a:r>
              <a:rPr b="1" i="0" lang="en-US" sz="2700" u="none" cap="none" strike="noStrik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HackVault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3969023" y="1504355"/>
            <a:ext cx="4634954" cy="2365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3700"/>
              <a:buFont typeface="Spline Sans"/>
              <a:buNone/>
            </a:pPr>
            <a:r>
              <a:rPr b="1" i="0" lang="en-US" sz="3700" u="none" cap="none" strike="noStrik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The Unified Command Center for Competitive Builders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3969023" y="4101554"/>
            <a:ext cx="4634954" cy="493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FFBB"/>
              </a:buClr>
              <a:buSzPts val="1200"/>
              <a:buFont typeface="Barlow"/>
              <a:buNone/>
            </a:pPr>
            <a:r>
              <a:rPr b="0" i="0" lang="en-US" sz="1200" u="none" cap="none" strike="noStrike">
                <a:solidFill>
                  <a:srgbClr val="16FFBB"/>
                </a:solidFill>
                <a:latin typeface="Barlow"/>
                <a:ea typeface="Barlow"/>
                <a:cs typeface="Barlow"/>
                <a:sym typeface="Barlow"/>
              </a:rPr>
              <a:t>Eliminating the "Context-Switching Tax"</a:t>
            </a:r>
            <a:r>
              <a:rPr b="0" i="0" lang="en-US" sz="12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— one sandbox, one source of truth, zero friction.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8012700" y="4813700"/>
            <a:ext cx="1131300" cy="329700"/>
          </a:xfrm>
          <a:prstGeom prst="roundRect">
            <a:avLst>
              <a:gd fmla="val 16667" name="adj"/>
            </a:avLst>
          </a:prstGeom>
          <a:solidFill>
            <a:srgbClr val="070614"/>
          </a:solidFill>
          <a:ln cap="flat" cmpd="sng" w="9525">
            <a:solidFill>
              <a:srgbClr val="0706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" name="Google Shape;26;p4" title="hv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3816625" cy="51435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5" title="h.jpeg"/>
          <p:cNvPicPr preferRelativeResize="0"/>
          <p:nvPr/>
        </p:nvPicPr>
        <p:blipFill rotWithShape="1">
          <a:blip r:embed="rId3">
            <a:alphaModFix/>
          </a:blip>
          <a:srcRect b="0" l="-870" r="7307" t="0"/>
          <a:stretch/>
        </p:blipFill>
        <p:spPr>
          <a:xfrm>
            <a:off x="0" y="0"/>
            <a:ext cx="368142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5"/>
          <p:cNvSpPr/>
          <p:nvPr/>
        </p:nvSpPr>
        <p:spPr>
          <a:xfrm>
            <a:off x="3969023" y="450056"/>
            <a:ext cx="894755" cy="216098"/>
          </a:xfrm>
          <a:prstGeom prst="roundRect">
            <a:avLst>
              <a:gd fmla="val 78992" name="adj"/>
            </a:avLst>
          </a:prstGeom>
          <a:noFill/>
          <a:ln cap="flat" cmpd="sng" w="9525">
            <a:solidFill>
              <a:srgbClr val="16FF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"/>
          <p:cNvSpPr/>
          <p:nvPr/>
        </p:nvSpPr>
        <p:spPr>
          <a:xfrm>
            <a:off x="4054301" y="492696"/>
            <a:ext cx="1181398" cy="130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6FFBB"/>
              </a:buClr>
              <a:buSzPts val="850"/>
              <a:buFont typeface="Barlow"/>
              <a:buNone/>
            </a:pPr>
            <a:r>
              <a:rPr b="0" i="0" lang="en-US" sz="850" u="none" cap="none" strike="noStrike">
                <a:solidFill>
                  <a:srgbClr val="16FFBB"/>
                </a:solidFill>
                <a:latin typeface="Barlow"/>
                <a:ea typeface="Barlow"/>
                <a:cs typeface="Barlow"/>
                <a:sym typeface="Barlow"/>
              </a:rPr>
              <a:t>THE PROBLEM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3969023" y="718542"/>
            <a:ext cx="4634954" cy="790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2450"/>
              <a:buFont typeface="Spline Sans"/>
              <a:buNone/>
            </a:pPr>
            <a:r>
              <a:rPr b="1" i="0" lang="en-US" sz="2450" u="none" cap="none" strike="noStrik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The Fractured Builder Workflow</a:t>
            </a:r>
            <a:endParaRPr b="0" i="0" sz="2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3969023" y="1705496"/>
            <a:ext cx="4634954" cy="656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00"/>
              <a:buFont typeface="Barlow"/>
              <a:buNone/>
            </a:pPr>
            <a:r>
              <a:rPr b="0" i="0" lang="en-US" sz="11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Hackathon builders bleed hours across </a:t>
            </a:r>
            <a:r>
              <a:rPr b="1" i="0" lang="en-US" sz="11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7+ disconnected tools</a:t>
            </a:r>
            <a:r>
              <a:rPr b="0" i="0" lang="en-US" sz="11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— Claude, ChatGPT, Lovable, GitHub, Figma, Discord, Drive. Every context switch is a tax.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3969023" y="2509093"/>
            <a:ext cx="2251918" cy="1245319"/>
          </a:xfrm>
          <a:prstGeom prst="roundRect">
            <a:avLst>
              <a:gd fmla="val 17134" name="adj"/>
            </a:avLst>
          </a:prstGeom>
          <a:solidFill>
            <a:srgbClr val="0A081B"/>
          </a:solidFill>
          <a:ln cap="flat" cmpd="sng" w="14275">
            <a:solidFill>
              <a:srgbClr val="16FF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5"/>
          <p:cNvSpPr/>
          <p:nvPr/>
        </p:nvSpPr>
        <p:spPr>
          <a:xfrm>
            <a:off x="4125516" y="2665586"/>
            <a:ext cx="1938933" cy="1975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🔄</a:t>
            </a:r>
            <a:r>
              <a:rPr b="1" i="0" lang="en-US" sz="120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 Alignment Drift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4125516" y="2941811"/>
            <a:ext cx="1938933" cy="656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00"/>
              <a:buFont typeface="Barlow"/>
              <a:buNone/>
            </a:pPr>
            <a:r>
              <a:rPr b="0" i="0" lang="en-US" sz="11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AI tools receive conflicting project specs, generating off-target outputs.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6352059" y="2509093"/>
            <a:ext cx="2251918" cy="1245319"/>
          </a:xfrm>
          <a:prstGeom prst="roundRect">
            <a:avLst>
              <a:gd fmla="val 17134" name="adj"/>
            </a:avLst>
          </a:prstGeom>
          <a:solidFill>
            <a:srgbClr val="0A081B"/>
          </a:solidFill>
          <a:ln cap="flat" cmpd="sng" w="14275">
            <a:solidFill>
              <a:srgbClr val="29DD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6508552" y="2665586"/>
            <a:ext cx="1938933" cy="1975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⏰</a:t>
            </a:r>
            <a:r>
              <a:rPr b="1" i="0" lang="en-US" sz="120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 Buried Deadlines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6508552" y="2941811"/>
            <a:ext cx="1938933" cy="4374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00"/>
              <a:buFont typeface="Barlow"/>
              <a:buNone/>
            </a:pPr>
            <a:r>
              <a:rPr b="0" i="0" lang="en-US" sz="11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Registration windows close in Discord threads nobody reads.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3969023" y="3885530"/>
            <a:ext cx="4634954" cy="807913"/>
          </a:xfrm>
          <a:prstGeom prst="roundRect">
            <a:avLst>
              <a:gd fmla="val 26411" name="adj"/>
            </a:avLst>
          </a:prstGeom>
          <a:solidFill>
            <a:srgbClr val="0A081B"/>
          </a:solidFill>
          <a:ln cap="flat" cmpd="sng" w="14275">
            <a:solidFill>
              <a:srgbClr val="37A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4125516" y="4042023"/>
            <a:ext cx="4321969" cy="1975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📦</a:t>
            </a:r>
            <a:r>
              <a:rPr b="1" i="0" lang="en-US" sz="120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 Scattered Assets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4125516" y="4318248"/>
            <a:ext cx="4321969" cy="2187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00"/>
              <a:buFont typeface="Barlow"/>
              <a:buNone/>
            </a:pPr>
            <a:r>
              <a:rPr b="0" i="0" lang="en-US" sz="11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Code, designs, and docs live across Drive, GitHub, and DMs.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8012700" y="4813700"/>
            <a:ext cx="1131300" cy="329700"/>
          </a:xfrm>
          <a:prstGeom prst="roundRect">
            <a:avLst>
              <a:gd fmla="val 16667" name="adj"/>
            </a:avLst>
          </a:prstGeom>
          <a:solidFill>
            <a:srgbClr val="070614"/>
          </a:solidFill>
          <a:ln cap="flat" cmpd="sng" w="9525">
            <a:solidFill>
              <a:srgbClr val="0706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/>
          <p:nvPr/>
        </p:nvSpPr>
        <p:spPr>
          <a:xfrm>
            <a:off x="540023" y="707975"/>
            <a:ext cx="996553" cy="234479"/>
          </a:xfrm>
          <a:prstGeom prst="roundRect">
            <a:avLst>
              <a:gd fmla="val 78969" name="adj"/>
            </a:avLst>
          </a:prstGeom>
          <a:solidFill>
            <a:srgbClr val="004D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6"/>
          <p:cNvSpPr/>
          <p:nvPr/>
        </p:nvSpPr>
        <p:spPr>
          <a:xfrm>
            <a:off x="632594" y="754261"/>
            <a:ext cx="1268611" cy="141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950"/>
              <a:buFont typeface="Barlow"/>
              <a:buNone/>
            </a:pPr>
            <a:r>
              <a:rPr b="0" i="0" lang="en-US" sz="95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THE SOLUTION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540023" y="1004143"/>
            <a:ext cx="8063954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2700"/>
              <a:buFont typeface="Spline Sans"/>
              <a:buNone/>
            </a:pPr>
            <a:r>
              <a:rPr b="1" i="0" lang="en-US" sz="2700" u="none" cap="none" strike="noStrik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The Unified Orchestration Layer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540023" y="1664196"/>
            <a:ext cx="8063954" cy="493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00"/>
              <a:buFont typeface="Barlow"/>
              <a:buNone/>
            </a:pPr>
            <a:r>
              <a:rPr b="0" i="0" lang="en-US" sz="12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HackVault replaces tool chaos with three coordinated systems — one per competition, one source of truth, one-click execution.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6" name="Google Shape;5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023" y="2331541"/>
            <a:ext cx="2585145" cy="21039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7" name="Google Shape;5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6881" y="2456780"/>
            <a:ext cx="231428" cy="23142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6"/>
          <p:cNvSpPr/>
          <p:nvPr/>
        </p:nvSpPr>
        <p:spPr>
          <a:xfrm>
            <a:off x="713333" y="2967707"/>
            <a:ext cx="2238524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350"/>
              <a:buFont typeface="Spline Sans"/>
              <a:buNone/>
            </a:pPr>
            <a:r>
              <a:rPr b="1" i="0" lang="en-US" sz="135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Dedicated Sandbox Blocks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713333" y="3274591"/>
            <a:ext cx="2238524" cy="9876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00"/>
              <a:buFont typeface="Barlow"/>
              <a:buNone/>
            </a:pPr>
            <a:r>
              <a:rPr b="0" i="0" lang="en-US" sz="12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Every competition gets an isolated environment housing all assets, deadlines, and project context.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0" name="Google Shape;6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79428" y="2331541"/>
            <a:ext cx="2585145" cy="21039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1" name="Google Shape;61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56286" y="2456780"/>
            <a:ext cx="231428" cy="231428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6"/>
          <p:cNvSpPr/>
          <p:nvPr/>
        </p:nvSpPr>
        <p:spPr>
          <a:xfrm>
            <a:off x="3452738" y="2967707"/>
            <a:ext cx="2238524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350"/>
              <a:buFont typeface="Spline Sans"/>
              <a:buNone/>
            </a:pPr>
            <a:r>
              <a:rPr b="1" i="0" lang="en-US" sz="135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Context Engine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3452738" y="3274591"/>
            <a:ext cx="2238524" cy="740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00"/>
              <a:buFont typeface="Barlow"/>
              <a:buNone/>
            </a:pPr>
            <a:r>
              <a:rPr b="0" i="0" lang="en-US" sz="12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A central source of truth storing project specs and keeping all AI tools aligned on the same vision.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" name="Google Shape;64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18833" y="2331541"/>
            <a:ext cx="2585145" cy="21039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5" name="Google Shape;65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95691" y="2456780"/>
            <a:ext cx="231428" cy="23142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6"/>
          <p:cNvSpPr/>
          <p:nvPr/>
        </p:nvSpPr>
        <p:spPr>
          <a:xfrm>
            <a:off x="6192143" y="2967707"/>
            <a:ext cx="2238524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350"/>
              <a:buFont typeface="Spline Sans"/>
              <a:buNone/>
            </a:pPr>
            <a:r>
              <a:rPr b="1" i="0" lang="en-US" sz="135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Smart Launcher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6192143" y="3274591"/>
            <a:ext cx="2238524" cy="740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00"/>
              <a:buFont typeface="Barlow"/>
              <a:buNone/>
            </a:pPr>
            <a:r>
              <a:rPr b="0" i="0" lang="en-US" sz="12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One-click execution into external tools with context pre-loaded. No re-explaining, no copy-paste.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8012700" y="4813700"/>
            <a:ext cx="1131300" cy="329700"/>
          </a:xfrm>
          <a:prstGeom prst="roundRect">
            <a:avLst>
              <a:gd fmla="val 16667" name="adj"/>
            </a:avLst>
          </a:prstGeom>
          <a:solidFill>
            <a:srgbClr val="070614"/>
          </a:solidFill>
          <a:ln cap="flat" cmpd="sng" w="9525">
            <a:solidFill>
              <a:srgbClr val="0706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"/>
          <p:cNvSpPr/>
          <p:nvPr/>
        </p:nvSpPr>
        <p:spPr>
          <a:xfrm>
            <a:off x="540023" y="439266"/>
            <a:ext cx="913656" cy="183207"/>
          </a:xfrm>
          <a:prstGeom prst="roundRect">
            <a:avLst>
              <a:gd fmla="val 78960" name="adj"/>
            </a:avLst>
          </a:prstGeom>
          <a:noFill/>
          <a:ln cap="flat" cmpd="sng" w="9525">
            <a:solidFill>
              <a:srgbClr val="16FF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7"/>
          <p:cNvSpPr/>
          <p:nvPr/>
        </p:nvSpPr>
        <p:spPr>
          <a:xfrm>
            <a:off x="612353" y="475431"/>
            <a:ext cx="1226195" cy="110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6FFBB"/>
              </a:buClr>
              <a:buSzPts val="750"/>
              <a:buFont typeface="Barlow"/>
              <a:buNone/>
            </a:pPr>
            <a:r>
              <a:rPr b="0" i="0" lang="en-US" sz="750" u="none" cap="none" strike="noStrike">
                <a:solidFill>
                  <a:srgbClr val="16FFBB"/>
                </a:solidFill>
                <a:latin typeface="Barlow"/>
                <a:ea typeface="Barlow"/>
                <a:cs typeface="Barlow"/>
                <a:sym typeface="Barlow"/>
              </a:rPr>
              <a:t>CORE WORKFLOW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540023" y="660127"/>
            <a:ext cx="8063954" cy="334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2100"/>
              <a:buFont typeface="Spline Sans"/>
              <a:buNone/>
            </a:pPr>
            <a:r>
              <a:rPr b="1" i="0" lang="en-US" sz="2100" u="none" cap="none" strike="noStrik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Drop Once, Build Everywhere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7" name="Google Shape;7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023" y="1242120"/>
            <a:ext cx="5138589" cy="2882578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7"/>
          <p:cNvSpPr/>
          <p:nvPr/>
        </p:nvSpPr>
        <p:spPr>
          <a:xfrm>
            <a:off x="5977458" y="2127945"/>
            <a:ext cx="2631207" cy="167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1050"/>
              <a:buFont typeface="Spline Sans"/>
              <a:buNone/>
            </a:pPr>
            <a:r>
              <a:rPr b="1" i="0" lang="en-US" sz="1050" u="none" cap="none" strike="noStrik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From Raw Concept to Structured Output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5977458" y="2389510"/>
            <a:ext cx="2631207" cy="858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900"/>
              <a:buFont typeface="Barlow"/>
              <a:buNone/>
            </a:pPr>
            <a:r>
              <a:rPr b="0" i="0" lang="en-US" sz="9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A builder drops a raw project idea — via </a:t>
            </a:r>
            <a:r>
              <a:rPr b="1" i="0" lang="en-US" sz="9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natural text or voice entry</a:t>
            </a:r>
            <a:r>
              <a:rPr b="0" i="0" lang="en-US" sz="9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. The Context Engine automatically parses the vision into structured metadata, then pre-loads prompts into downstream production tools.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0" name="Google Shape;8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192" y="4342470"/>
            <a:ext cx="180826" cy="180826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7"/>
          <p:cNvSpPr/>
          <p:nvPr/>
        </p:nvSpPr>
        <p:spPr>
          <a:xfrm>
            <a:off x="931813" y="4336479"/>
            <a:ext cx="2217688" cy="1717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16FFBB"/>
              </a:buClr>
              <a:buSzPts val="900"/>
              <a:buFont typeface="Barlow"/>
              <a:buNone/>
            </a:pPr>
            <a:r>
              <a:rPr b="1" i="0" lang="en-US" sz="900" u="none" cap="none" strike="noStrike">
                <a:solidFill>
                  <a:srgbClr val="16FFBB"/>
                </a:solidFill>
                <a:latin typeface="Barlow"/>
                <a:ea typeface="Barlow"/>
                <a:cs typeface="Barlow"/>
                <a:sym typeface="Barlow"/>
              </a:rPr>
              <a:t>Input</a:t>
            </a:r>
            <a:r>
              <a:rPr b="0" i="0" lang="en-US" sz="9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— Raw concept via text or voice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2" name="Google Shape;8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12393" y="4342470"/>
            <a:ext cx="180826" cy="180826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7"/>
          <p:cNvSpPr/>
          <p:nvPr/>
        </p:nvSpPr>
        <p:spPr>
          <a:xfrm>
            <a:off x="3659014" y="4336479"/>
            <a:ext cx="2217688" cy="343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29DDDA"/>
              </a:buClr>
              <a:buSzPts val="900"/>
              <a:buFont typeface="Barlow"/>
              <a:buNone/>
            </a:pPr>
            <a:r>
              <a:rPr b="1" i="0" lang="en-US" sz="900" u="none" cap="none" strike="noStrike">
                <a:solidFill>
                  <a:srgbClr val="29DDDA"/>
                </a:solidFill>
                <a:latin typeface="Barlow"/>
                <a:ea typeface="Barlow"/>
                <a:cs typeface="Barlow"/>
                <a:sym typeface="Barlow"/>
              </a:rPr>
              <a:t>Parse</a:t>
            </a:r>
            <a:r>
              <a:rPr b="0" i="0" lang="en-US" sz="9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— Context Engine structures metadata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4" name="Google Shape;84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39594" y="4342470"/>
            <a:ext cx="180826" cy="180826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7"/>
          <p:cNvSpPr/>
          <p:nvPr/>
        </p:nvSpPr>
        <p:spPr>
          <a:xfrm>
            <a:off x="6386215" y="4336479"/>
            <a:ext cx="2217688" cy="1717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37A7E7"/>
              </a:buClr>
              <a:buSzPts val="900"/>
              <a:buFont typeface="Barlow"/>
              <a:buNone/>
            </a:pPr>
            <a:r>
              <a:rPr b="1" i="0" lang="en-US" sz="900" u="none" cap="none" strike="noStrike">
                <a:solidFill>
                  <a:srgbClr val="37A7E7"/>
                </a:solidFill>
                <a:latin typeface="Barlow"/>
                <a:ea typeface="Barlow"/>
                <a:cs typeface="Barlow"/>
                <a:sym typeface="Barlow"/>
              </a:rPr>
              <a:t>Deploy</a:t>
            </a:r>
            <a:r>
              <a:rPr b="0" i="0" lang="en-US" sz="9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— Prompts pre-loaded into AI tools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8012700" y="4813700"/>
            <a:ext cx="1131300" cy="329700"/>
          </a:xfrm>
          <a:prstGeom prst="roundRect">
            <a:avLst>
              <a:gd fmla="val 16667" name="adj"/>
            </a:avLst>
          </a:prstGeom>
          <a:solidFill>
            <a:srgbClr val="070614"/>
          </a:solidFill>
          <a:ln cap="flat" cmpd="sng" w="9525">
            <a:solidFill>
              <a:srgbClr val="0706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2" name="Google Shape;9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8"/>
          <p:cNvSpPr/>
          <p:nvPr/>
        </p:nvSpPr>
        <p:spPr>
          <a:xfrm>
            <a:off x="540023" y="429964"/>
            <a:ext cx="1580555" cy="212378"/>
          </a:xfrm>
          <a:prstGeom prst="roundRect">
            <a:avLst>
              <a:gd fmla="val 79013" name="adj"/>
            </a:avLst>
          </a:prstGeom>
          <a:solidFill>
            <a:srgbClr val="004D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8"/>
          <p:cNvSpPr/>
          <p:nvPr/>
        </p:nvSpPr>
        <p:spPr>
          <a:xfrm>
            <a:off x="623888" y="471860"/>
            <a:ext cx="1870025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850"/>
              <a:buFont typeface="Barlow"/>
              <a:buNone/>
            </a:pPr>
            <a:r>
              <a:rPr b="0" i="0" lang="en-US" sz="85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DASHBOARD ARCHITECTURE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540023" y="693018"/>
            <a:ext cx="4634954" cy="388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2400"/>
              <a:buFont typeface="Spline Sans"/>
              <a:buNone/>
            </a:pPr>
            <a:r>
              <a:rPr b="1" i="0" lang="en-US" sz="2400" u="none" cap="none" strike="noStrik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Three Streams of Focus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8"/>
          <p:cNvSpPr/>
          <p:nvPr/>
        </p:nvSpPr>
        <p:spPr>
          <a:xfrm>
            <a:off x="540025" y="1271525"/>
            <a:ext cx="3837300" cy="1764300"/>
          </a:xfrm>
          <a:prstGeom prst="roundRect">
            <a:avLst>
              <a:gd fmla="val 11890" name="adj"/>
            </a:avLst>
          </a:prstGeom>
          <a:solidFill>
            <a:srgbClr val="0A081B"/>
          </a:solidFill>
          <a:ln cap="flat" cmpd="sng" w="14275">
            <a:solidFill>
              <a:srgbClr val="16FF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8"/>
          <p:cNvSpPr/>
          <p:nvPr/>
        </p:nvSpPr>
        <p:spPr>
          <a:xfrm>
            <a:off x="694134" y="1425625"/>
            <a:ext cx="419472" cy="419472"/>
          </a:xfrm>
          <a:prstGeom prst="ellipse">
            <a:avLst/>
          </a:prstGeom>
          <a:solidFill>
            <a:srgbClr val="16FF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8" name="Google Shape;9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476" y="1540966"/>
            <a:ext cx="188714" cy="188714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8"/>
          <p:cNvSpPr/>
          <p:nvPr/>
        </p:nvSpPr>
        <p:spPr>
          <a:xfrm>
            <a:off x="809484" y="1917487"/>
            <a:ext cx="19458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00"/>
              <a:buFont typeface="Spline Sans"/>
              <a:buNone/>
            </a:pPr>
            <a:r>
              <a:rPr b="1" i="0" lang="en-US" sz="120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Ongoing Stream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8"/>
          <p:cNvSpPr/>
          <p:nvPr/>
        </p:nvSpPr>
        <p:spPr>
          <a:xfrm>
            <a:off x="809484" y="2183984"/>
            <a:ext cx="19458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00"/>
              <a:buFont typeface="Barlow"/>
              <a:buNone/>
            </a:pPr>
            <a:r>
              <a:rPr b="0" i="0" lang="en-US" sz="11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Active hackathon blocks with live round status and time-remaining progress bars.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8"/>
          <p:cNvSpPr/>
          <p:nvPr/>
        </p:nvSpPr>
        <p:spPr>
          <a:xfrm>
            <a:off x="4609350" y="1186825"/>
            <a:ext cx="3673800" cy="1764300"/>
          </a:xfrm>
          <a:prstGeom prst="roundRect">
            <a:avLst>
              <a:gd fmla="val 11890" name="adj"/>
            </a:avLst>
          </a:prstGeom>
          <a:solidFill>
            <a:srgbClr val="0A081B"/>
          </a:solidFill>
          <a:ln cap="flat" cmpd="sng" w="14275">
            <a:solidFill>
              <a:srgbClr val="29DD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8"/>
          <p:cNvSpPr/>
          <p:nvPr/>
        </p:nvSpPr>
        <p:spPr>
          <a:xfrm>
            <a:off x="4855113" y="1374688"/>
            <a:ext cx="419400" cy="419400"/>
          </a:xfrm>
          <a:prstGeom prst="ellipse">
            <a:avLst/>
          </a:prstGeom>
          <a:solidFill>
            <a:srgbClr val="29DD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3" name="Google Shape;10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90280" y="1540966"/>
            <a:ext cx="188714" cy="188714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8"/>
          <p:cNvSpPr/>
          <p:nvPr/>
        </p:nvSpPr>
        <p:spPr>
          <a:xfrm>
            <a:off x="4855125" y="1845099"/>
            <a:ext cx="19458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00"/>
              <a:buFont typeface="Spline Sans"/>
              <a:buNone/>
            </a:pPr>
            <a:r>
              <a:rPr b="1" i="0" lang="en-US" sz="120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Upcoming Stream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4855125" y="2087321"/>
            <a:ext cx="19458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00"/>
              <a:buFont typeface="Barlow"/>
              <a:buNone/>
            </a:pPr>
            <a:r>
              <a:rPr b="0" i="0" lang="en-US" sz="11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Verified registrations queued by deadline proximity to prevent schedule overlaps.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540026" y="3162450"/>
            <a:ext cx="7743000" cy="1551000"/>
          </a:xfrm>
          <a:prstGeom prst="roundRect">
            <a:avLst>
              <a:gd fmla="val 13524" name="adj"/>
            </a:avLst>
          </a:prstGeom>
          <a:solidFill>
            <a:srgbClr val="0A081B"/>
          </a:solidFill>
          <a:ln cap="flat" cmpd="sng" w="14275">
            <a:solidFill>
              <a:srgbClr val="37A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8"/>
          <p:cNvSpPr/>
          <p:nvPr/>
        </p:nvSpPr>
        <p:spPr>
          <a:xfrm>
            <a:off x="694134" y="3316560"/>
            <a:ext cx="419472" cy="419472"/>
          </a:xfrm>
          <a:prstGeom prst="ellipse">
            <a:avLst/>
          </a:prstGeom>
          <a:solidFill>
            <a:srgbClr val="37A7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8" name="Google Shape;108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476" y="3431902"/>
            <a:ext cx="188714" cy="18871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8"/>
          <p:cNvSpPr/>
          <p:nvPr/>
        </p:nvSpPr>
        <p:spPr>
          <a:xfrm>
            <a:off x="694134" y="3862760"/>
            <a:ext cx="4326731" cy="194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00"/>
              <a:buFont typeface="Spline Sans"/>
              <a:buNone/>
            </a:pPr>
            <a:r>
              <a:rPr b="1" i="0" lang="en-US" sz="160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Completed Stream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762019" y="4183700"/>
            <a:ext cx="72990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00"/>
              <a:buFont typeface="Barlow"/>
              <a:buNone/>
            </a:pPr>
            <a:r>
              <a:rPr b="0" i="0" lang="en-US" sz="11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Historical read-only archive storing past submission assets, code snapshots, and badges.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8012700" y="4813700"/>
            <a:ext cx="1131300" cy="329700"/>
          </a:xfrm>
          <a:prstGeom prst="roundRect">
            <a:avLst>
              <a:gd fmla="val 16667" name="adj"/>
            </a:avLst>
          </a:prstGeom>
          <a:solidFill>
            <a:srgbClr val="070614"/>
          </a:solidFill>
          <a:ln cap="flat" cmpd="sng" w="9525">
            <a:solidFill>
              <a:srgbClr val="0706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"/>
          <p:cNvSpPr/>
          <p:nvPr/>
        </p:nvSpPr>
        <p:spPr>
          <a:xfrm>
            <a:off x="540023" y="424309"/>
            <a:ext cx="506909" cy="117202"/>
          </a:xfrm>
          <a:prstGeom prst="roundRect">
            <a:avLst>
              <a:gd fmla="val 78994" name="adj"/>
            </a:avLst>
          </a:prstGeom>
          <a:noFill/>
          <a:ln cap="flat" cmpd="sng" w="9525">
            <a:solidFill>
              <a:srgbClr val="16FF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9"/>
          <p:cNvSpPr/>
          <p:nvPr/>
        </p:nvSpPr>
        <p:spPr>
          <a:xfrm>
            <a:off x="586308" y="447452"/>
            <a:ext cx="871538" cy="709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6FFBB"/>
              </a:buClr>
              <a:buSzPts val="450"/>
              <a:buFont typeface="Barlow"/>
              <a:buNone/>
            </a:pPr>
            <a:r>
              <a:rPr b="0" i="0" lang="en-US" sz="450" u="none" cap="none" strike="noStrike">
                <a:solidFill>
                  <a:srgbClr val="16FFBB"/>
                </a:solidFill>
                <a:latin typeface="Barlow"/>
                <a:ea typeface="Barlow"/>
                <a:cs typeface="Barlow"/>
                <a:sym typeface="Barlow"/>
              </a:rPr>
              <a:t>KEY FEATURES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9"/>
          <p:cNvSpPr/>
          <p:nvPr/>
        </p:nvSpPr>
        <p:spPr>
          <a:xfrm>
            <a:off x="540023" y="556915"/>
            <a:ext cx="8063954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1350"/>
              <a:buFont typeface="Spline Sans"/>
              <a:buNone/>
            </a:pPr>
            <a:r>
              <a:rPr b="1" i="0" lang="en-US" sz="1350" u="none" cap="none" strike="noStrik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Precision Tools for Builders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0" name="Google Shape;12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023" y="872430"/>
            <a:ext cx="3937918" cy="3937918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9"/>
          <p:cNvSpPr/>
          <p:nvPr/>
        </p:nvSpPr>
        <p:spPr>
          <a:xfrm>
            <a:off x="4552722" y="771214"/>
            <a:ext cx="3937800" cy="1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650"/>
              <a:buFont typeface="Spline Sans"/>
              <a:buNone/>
            </a:pPr>
            <a:r>
              <a:rPr b="1" i="0" lang="en-US" sz="2050" u="none" cap="none" strike="noStrik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Engineered for Speed &amp; Clarity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9"/>
          <p:cNvSpPr/>
          <p:nvPr/>
        </p:nvSpPr>
        <p:spPr>
          <a:xfrm>
            <a:off x="4628725" y="1162481"/>
            <a:ext cx="39378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600"/>
              <a:buFont typeface="Barlow"/>
              <a:buNone/>
            </a:pPr>
            <a:r>
              <a:rPr b="0" i="0" lang="en-US" sz="16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Every feature is designed to reduce cognitive load and eliminate redundant work during high-pressure hackathon sprints.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3" name="Google Shape;12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0023" y="4897115"/>
            <a:ext cx="4012704" cy="396106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9"/>
          <p:cNvSpPr/>
          <p:nvPr/>
        </p:nvSpPr>
        <p:spPr>
          <a:xfrm>
            <a:off x="4552716" y="2206321"/>
            <a:ext cx="3801300" cy="1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650"/>
              <a:buFont typeface="Spline Sans"/>
              <a:buNone/>
            </a:pPr>
            <a:r>
              <a:rPr b="1" i="0" lang="en-US" sz="155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Pick &amp; Pull Engine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4715991" y="2455532"/>
            <a:ext cx="3801300" cy="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600"/>
              <a:buFont typeface="Barlow"/>
              <a:buNone/>
            </a:pPr>
            <a:r>
              <a:rPr b="0" i="0" lang="en-US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Selective context sieve — extracts active action items while preserving raw logs in a background vault.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6" name="Google Shape;126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91273" y="4897115"/>
            <a:ext cx="4012704" cy="396106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9"/>
          <p:cNvSpPr/>
          <p:nvPr/>
        </p:nvSpPr>
        <p:spPr>
          <a:xfrm>
            <a:off x="4552691" y="3301458"/>
            <a:ext cx="3801300" cy="1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650"/>
              <a:buFont typeface="Spline Sans"/>
              <a:buNone/>
            </a:pPr>
            <a:r>
              <a:rPr b="1" i="0" lang="en-US" sz="145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Deep Metadata Search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4715966" y="3676395"/>
            <a:ext cx="3801300" cy="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600"/>
              <a:buFont typeface="Barlow"/>
              <a:buNone/>
            </a:pPr>
            <a:r>
              <a:rPr b="0" i="0" lang="en-US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Sub-second indexing across concept strings, tags, and notes — not just slide titles.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9"/>
          <p:cNvSpPr/>
          <p:nvPr/>
        </p:nvSpPr>
        <p:spPr>
          <a:xfrm>
            <a:off x="8012700" y="4813700"/>
            <a:ext cx="1131300" cy="329700"/>
          </a:xfrm>
          <a:prstGeom prst="roundRect">
            <a:avLst>
              <a:gd fmla="val 16667" name="adj"/>
            </a:avLst>
          </a:prstGeom>
          <a:solidFill>
            <a:srgbClr val="070614"/>
          </a:solidFill>
          <a:ln cap="flat" cmpd="sng" w="9525">
            <a:solidFill>
              <a:srgbClr val="0706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5" name="Google Shape;13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0"/>
          <p:cNvSpPr/>
          <p:nvPr/>
        </p:nvSpPr>
        <p:spPr>
          <a:xfrm>
            <a:off x="540023" y="467841"/>
            <a:ext cx="1069628" cy="230758"/>
          </a:xfrm>
          <a:prstGeom prst="roundRect">
            <a:avLst>
              <a:gd fmla="val 78989" name="adj"/>
            </a:avLst>
          </a:prstGeom>
          <a:solidFill>
            <a:srgbClr val="004D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0"/>
          <p:cNvSpPr/>
          <p:nvPr/>
        </p:nvSpPr>
        <p:spPr>
          <a:xfrm>
            <a:off x="631106" y="513383"/>
            <a:ext cx="1344662" cy="139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950"/>
              <a:buFont typeface="Barlow"/>
              <a:buNone/>
            </a:pPr>
            <a:r>
              <a:rPr b="0" i="0" lang="en-US" sz="95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PROOF OF WORK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540023" y="758354"/>
            <a:ext cx="4634954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2650"/>
              <a:buFont typeface="Spline Sans"/>
              <a:buNone/>
            </a:pPr>
            <a:r>
              <a:rPr b="1" i="0" lang="en-US" sz="2650" u="none" cap="none" strike="noStrik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The Validation Wall</a:t>
            </a:r>
            <a:endParaRPr b="0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0"/>
          <p:cNvSpPr/>
          <p:nvPr/>
        </p:nvSpPr>
        <p:spPr>
          <a:xfrm>
            <a:off x="540023" y="1404491"/>
            <a:ext cx="4634954" cy="72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50"/>
              <a:buFont typeface="Barlow"/>
              <a:buNone/>
            </a:pPr>
            <a:r>
              <a:rPr b="0" i="0" lang="en-US" sz="115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Completed Blocks convert into a </a:t>
            </a:r>
            <a:r>
              <a:rPr b="1" i="0" lang="en-US" sz="115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public proof-of-work portfolio</a:t>
            </a:r>
            <a:r>
              <a:rPr b="0" i="0" lang="en-US" sz="115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— verified completion badges, rank certificates, submission links, and team photographs, all in one place.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0" name="Google Shape;14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0023" y="2295971"/>
            <a:ext cx="303758" cy="303758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0"/>
          <p:cNvSpPr/>
          <p:nvPr/>
        </p:nvSpPr>
        <p:spPr>
          <a:xfrm>
            <a:off x="1030635" y="2348136"/>
            <a:ext cx="4144342" cy="2109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300"/>
              <a:buFont typeface="Spline Sans"/>
              <a:buNone/>
            </a:pPr>
            <a:r>
              <a:rPr b="1" i="0" lang="en-US" sz="130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Verified Badges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0"/>
          <p:cNvSpPr/>
          <p:nvPr/>
        </p:nvSpPr>
        <p:spPr>
          <a:xfrm>
            <a:off x="1030635" y="2648769"/>
            <a:ext cx="4144342" cy="2411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50"/>
              <a:buFont typeface="Barlow"/>
              <a:buNone/>
            </a:pPr>
            <a:r>
              <a:rPr b="0" i="0" lang="en-US" sz="115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Completion credentials tied to each hackathon block.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3" name="Google Shape;143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0023" y="3188866"/>
            <a:ext cx="303758" cy="303758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0"/>
          <p:cNvSpPr/>
          <p:nvPr/>
        </p:nvSpPr>
        <p:spPr>
          <a:xfrm>
            <a:off x="1030635" y="3241030"/>
            <a:ext cx="4144342" cy="2109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300"/>
              <a:buFont typeface="Spline Sans"/>
              <a:buNone/>
            </a:pPr>
            <a:r>
              <a:rPr b="1" i="0" lang="en-US" sz="130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Rank Certificates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0"/>
          <p:cNvSpPr/>
          <p:nvPr/>
        </p:nvSpPr>
        <p:spPr>
          <a:xfrm>
            <a:off x="1030635" y="3541663"/>
            <a:ext cx="4144342" cy="2411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50"/>
              <a:buFont typeface="Barlow"/>
              <a:buNone/>
            </a:pPr>
            <a:r>
              <a:rPr b="0" i="0" lang="en-US" sz="115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Placement and ranking documentation for every submission.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6" name="Google Shape;146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0023" y="4081760"/>
            <a:ext cx="303758" cy="303758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0"/>
          <p:cNvSpPr/>
          <p:nvPr/>
        </p:nvSpPr>
        <p:spPr>
          <a:xfrm>
            <a:off x="1030635" y="4133924"/>
            <a:ext cx="4144342" cy="2109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300"/>
              <a:buFont typeface="Spline Sans"/>
              <a:buNone/>
            </a:pPr>
            <a:r>
              <a:rPr b="1" i="0" lang="en-US" sz="130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Submission Links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0"/>
          <p:cNvSpPr/>
          <p:nvPr/>
        </p:nvSpPr>
        <p:spPr>
          <a:xfrm>
            <a:off x="1030635" y="4434557"/>
            <a:ext cx="4144342" cy="2411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50"/>
              <a:buFont typeface="Barlow"/>
              <a:buNone/>
            </a:pPr>
            <a:r>
              <a:rPr b="0" i="0" lang="en-US" sz="115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Direct links to repos, demos, and pitch decks.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"/>
          <p:cNvSpPr/>
          <p:nvPr/>
        </p:nvSpPr>
        <p:spPr>
          <a:xfrm>
            <a:off x="540023" y="474092"/>
            <a:ext cx="1121792" cy="227112"/>
          </a:xfrm>
          <a:prstGeom prst="roundRect">
            <a:avLst>
              <a:gd fmla="val 78983" name="adj"/>
            </a:avLst>
          </a:prstGeom>
          <a:noFill/>
          <a:ln cap="flat" cmpd="sng" w="14275">
            <a:solidFill>
              <a:srgbClr val="16FF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1"/>
          <p:cNvSpPr/>
          <p:nvPr/>
        </p:nvSpPr>
        <p:spPr>
          <a:xfrm>
            <a:off x="629692" y="518889"/>
            <a:ext cx="1399654" cy="137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6FFBB"/>
              </a:buClr>
              <a:buSzPts val="900"/>
              <a:buFont typeface="Barlow"/>
              <a:buNone/>
            </a:pPr>
            <a:r>
              <a:rPr b="0" i="0" lang="en-US" sz="900" u="none" cap="none" strike="noStrike">
                <a:solidFill>
                  <a:srgbClr val="16FFBB"/>
                </a:solidFill>
                <a:latin typeface="Barlow"/>
                <a:ea typeface="Barlow"/>
                <a:cs typeface="Barlow"/>
                <a:sym typeface="Barlow"/>
              </a:rPr>
              <a:t>BUSINESS MODEL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1"/>
          <p:cNvSpPr/>
          <p:nvPr/>
        </p:nvSpPr>
        <p:spPr>
          <a:xfrm>
            <a:off x="540023" y="759098"/>
            <a:ext cx="8063954" cy="415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2600"/>
              <a:buFont typeface="Spline Sans"/>
              <a:buNone/>
            </a:pPr>
            <a:r>
              <a:rPr b="1" i="0" lang="en-US" sz="2600" u="none" cap="none" strike="noStrik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Scalable Platform Tiers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1"/>
          <p:cNvSpPr/>
          <p:nvPr/>
        </p:nvSpPr>
        <p:spPr>
          <a:xfrm>
            <a:off x="540023" y="1391543"/>
            <a:ext cx="8521154" cy="2354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50"/>
              <a:buFont typeface="Barlow"/>
              <a:buNone/>
            </a:pPr>
            <a:r>
              <a:rPr b="0" i="0" lang="en-US" sz="115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Free tier for individual builders. Premium for teams and power users who need full orchestration.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1"/>
          <p:cNvSpPr/>
          <p:nvPr/>
        </p:nvSpPr>
        <p:spPr>
          <a:xfrm>
            <a:off x="540023" y="1789881"/>
            <a:ext cx="8063954" cy="2131368"/>
          </a:xfrm>
          <a:prstGeom prst="roundRect">
            <a:avLst>
              <a:gd fmla="val 10520" name="adj"/>
            </a:avLst>
          </a:prstGeom>
          <a:noFill/>
          <a:ln cap="flat" cmpd="sng" w="9525">
            <a:solidFill>
              <a:srgbClr val="FFFFFF">
                <a:alpha val="2392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1"/>
          <p:cNvSpPr/>
          <p:nvPr/>
        </p:nvSpPr>
        <p:spPr>
          <a:xfrm>
            <a:off x="540023" y="2225204"/>
            <a:ext cx="8063954" cy="9343"/>
          </a:xfrm>
          <a:prstGeom prst="rect">
            <a:avLst/>
          </a:prstGeom>
          <a:solidFill>
            <a:srgbClr val="FFFFFF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1"/>
          <p:cNvSpPr/>
          <p:nvPr/>
        </p:nvSpPr>
        <p:spPr>
          <a:xfrm>
            <a:off x="540023" y="2648620"/>
            <a:ext cx="8063954" cy="9343"/>
          </a:xfrm>
          <a:prstGeom prst="rect">
            <a:avLst/>
          </a:prstGeom>
          <a:solidFill>
            <a:srgbClr val="FFFFFF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1"/>
          <p:cNvSpPr/>
          <p:nvPr/>
        </p:nvSpPr>
        <p:spPr>
          <a:xfrm>
            <a:off x="540023" y="3072036"/>
            <a:ext cx="8063954" cy="9343"/>
          </a:xfrm>
          <a:prstGeom prst="rect">
            <a:avLst/>
          </a:prstGeom>
          <a:solidFill>
            <a:srgbClr val="FFFFFF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1"/>
          <p:cNvSpPr/>
          <p:nvPr/>
        </p:nvSpPr>
        <p:spPr>
          <a:xfrm>
            <a:off x="540023" y="3495452"/>
            <a:ext cx="8063954" cy="9343"/>
          </a:xfrm>
          <a:prstGeom prst="rect">
            <a:avLst/>
          </a:prstGeom>
          <a:solidFill>
            <a:srgbClr val="FFFFFF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1"/>
          <p:cNvSpPr/>
          <p:nvPr/>
        </p:nvSpPr>
        <p:spPr>
          <a:xfrm>
            <a:off x="3283372" y="1789881"/>
            <a:ext cx="9343" cy="2131368"/>
          </a:xfrm>
          <a:prstGeom prst="rect">
            <a:avLst/>
          </a:prstGeom>
          <a:solidFill>
            <a:srgbClr val="FFFFFF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1"/>
          <p:cNvSpPr/>
          <p:nvPr/>
        </p:nvSpPr>
        <p:spPr>
          <a:xfrm>
            <a:off x="5941293" y="1789881"/>
            <a:ext cx="9343" cy="2131368"/>
          </a:xfrm>
          <a:prstGeom prst="rect">
            <a:avLst/>
          </a:prstGeom>
          <a:solidFill>
            <a:srgbClr val="FFFFFF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1"/>
          <p:cNvSpPr/>
          <p:nvPr/>
        </p:nvSpPr>
        <p:spPr>
          <a:xfrm>
            <a:off x="694358" y="1886248"/>
            <a:ext cx="2894409" cy="2354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50"/>
              <a:buFont typeface="Barlow"/>
              <a:buNone/>
            </a:pPr>
            <a:r>
              <a:rPr b="1" i="0" lang="en-US" sz="115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Feature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1"/>
          <p:cNvSpPr/>
          <p:nvPr/>
        </p:nvSpPr>
        <p:spPr>
          <a:xfrm>
            <a:off x="3435176" y="1886248"/>
            <a:ext cx="2811512" cy="2449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Barlow"/>
              <a:buNone/>
            </a:pPr>
            <a:r>
              <a:rPr b="0" i="0" lang="en-US" sz="1150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🆓</a:t>
            </a:r>
            <a:r>
              <a:rPr b="1" i="0" lang="en-US" sz="115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Free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1"/>
          <p:cNvSpPr/>
          <p:nvPr/>
        </p:nvSpPr>
        <p:spPr>
          <a:xfrm>
            <a:off x="6093098" y="1886248"/>
            <a:ext cx="2813893" cy="2449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Barlow"/>
              <a:buNone/>
            </a:pPr>
            <a:r>
              <a:rPr b="0" i="0" lang="en-US" sz="1150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⭐</a:t>
            </a:r>
            <a:r>
              <a:rPr b="1" i="0" lang="en-US" sz="115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Premium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1"/>
          <p:cNvSpPr/>
          <p:nvPr/>
        </p:nvSpPr>
        <p:spPr>
          <a:xfrm>
            <a:off x="694358" y="2319189"/>
            <a:ext cx="2894409" cy="2354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50"/>
              <a:buFont typeface="Barlow"/>
              <a:buNone/>
            </a:pPr>
            <a:r>
              <a:rPr b="0" i="0" lang="en-US" sz="115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Search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1"/>
          <p:cNvSpPr/>
          <p:nvPr/>
        </p:nvSpPr>
        <p:spPr>
          <a:xfrm>
            <a:off x="3435176" y="2319189"/>
            <a:ext cx="2811512" cy="2354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50"/>
              <a:buFont typeface="Barlow"/>
              <a:buNone/>
            </a:pPr>
            <a:r>
              <a:rPr b="0" i="0" lang="en-US" sz="115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Title Query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1"/>
          <p:cNvSpPr/>
          <p:nvPr/>
        </p:nvSpPr>
        <p:spPr>
          <a:xfrm>
            <a:off x="6093098" y="2319189"/>
            <a:ext cx="2813893" cy="2354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50"/>
              <a:buFont typeface="Barlow"/>
              <a:buNone/>
            </a:pPr>
            <a:r>
              <a:rPr b="0" i="0" lang="en-US" sz="115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Deep Metadata Scan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694358" y="2742605"/>
            <a:ext cx="2894409" cy="2354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50"/>
              <a:buFont typeface="Barlow"/>
              <a:buNone/>
            </a:pPr>
            <a:r>
              <a:rPr b="0" i="0" lang="en-US" sz="115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Gallery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1"/>
          <p:cNvSpPr/>
          <p:nvPr/>
        </p:nvSpPr>
        <p:spPr>
          <a:xfrm>
            <a:off x="3435176" y="2742605"/>
            <a:ext cx="2811512" cy="2354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50"/>
              <a:buFont typeface="Barlow"/>
              <a:buNone/>
            </a:pPr>
            <a:r>
              <a:rPr b="0" i="0" lang="en-US" sz="115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1 Asset / Block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1"/>
          <p:cNvSpPr/>
          <p:nvPr/>
        </p:nvSpPr>
        <p:spPr>
          <a:xfrm>
            <a:off x="6093098" y="2742605"/>
            <a:ext cx="2813893" cy="2354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50"/>
              <a:buFont typeface="Barlow"/>
              <a:buNone/>
            </a:pPr>
            <a:r>
              <a:rPr b="0" i="0" lang="en-US" sz="115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5 Assets / Block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1"/>
          <p:cNvSpPr/>
          <p:nvPr/>
        </p:nvSpPr>
        <p:spPr>
          <a:xfrm>
            <a:off x="694358" y="3166021"/>
            <a:ext cx="2894409" cy="2354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50"/>
              <a:buFont typeface="Barlow"/>
              <a:buNone/>
            </a:pPr>
            <a:r>
              <a:rPr b="0" i="0" lang="en-US" sz="115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Input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1"/>
          <p:cNvSpPr/>
          <p:nvPr/>
        </p:nvSpPr>
        <p:spPr>
          <a:xfrm>
            <a:off x="3435176" y="3166021"/>
            <a:ext cx="2811512" cy="2354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50"/>
              <a:buFont typeface="Barlow"/>
              <a:buNone/>
            </a:pPr>
            <a:r>
              <a:rPr b="0" i="0" lang="en-US" sz="115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Text Only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6093098" y="3166021"/>
            <a:ext cx="2813893" cy="2354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50"/>
              <a:buFont typeface="Barlow"/>
              <a:buNone/>
            </a:pPr>
            <a:r>
              <a:rPr b="0" i="0" lang="en-US" sz="115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Voice Parsing Engine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694358" y="3589437"/>
            <a:ext cx="2894409" cy="2354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50"/>
              <a:buFont typeface="Barlow"/>
              <a:buNone/>
            </a:pPr>
            <a:r>
              <a:rPr b="0" i="0" lang="en-US" sz="115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Alarms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3435176" y="3589437"/>
            <a:ext cx="2811512" cy="2354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50"/>
              <a:buFont typeface="Barlow"/>
              <a:buNone/>
            </a:pPr>
            <a:r>
              <a:rPr b="0" i="0" lang="en-US" sz="115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Basic Reminders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6093098" y="3589437"/>
            <a:ext cx="2813893" cy="2354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50"/>
              <a:buFont typeface="Barlow"/>
              <a:buNone/>
            </a:pPr>
            <a:r>
              <a:rPr b="0" i="0" lang="en-US" sz="115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Multi-Channel Cascading Alerts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1"/>
          <p:cNvSpPr/>
          <p:nvPr/>
        </p:nvSpPr>
        <p:spPr>
          <a:xfrm>
            <a:off x="540023" y="4084141"/>
            <a:ext cx="8063954" cy="585267"/>
          </a:xfrm>
          <a:prstGeom prst="roundRect">
            <a:avLst>
              <a:gd fmla="val 38312" name="adj"/>
            </a:avLst>
          </a:prstGeom>
          <a:solidFill>
            <a:srgbClr val="0080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1" name="Google Shape;18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9446" y="4297338"/>
            <a:ext cx="186854" cy="149423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1"/>
          <p:cNvSpPr/>
          <p:nvPr/>
        </p:nvSpPr>
        <p:spPr>
          <a:xfrm>
            <a:off x="1025723" y="4266307"/>
            <a:ext cx="7886030" cy="2354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Barlo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Premium unlocks the full Context Engine, Smart Launcher, and Proof-of-Work Portfolio.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1"/>
          <p:cNvSpPr/>
          <p:nvPr/>
        </p:nvSpPr>
        <p:spPr>
          <a:xfrm>
            <a:off x="8012700" y="4813700"/>
            <a:ext cx="1131300" cy="329700"/>
          </a:xfrm>
          <a:prstGeom prst="roundRect">
            <a:avLst>
              <a:gd fmla="val 16667" name="adj"/>
            </a:avLst>
          </a:prstGeom>
          <a:solidFill>
            <a:srgbClr val="070614"/>
          </a:solidFill>
          <a:ln cap="flat" cmpd="sng" w="9525">
            <a:solidFill>
              <a:srgbClr val="0706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/>
          <p:nvPr/>
        </p:nvSpPr>
        <p:spPr>
          <a:xfrm>
            <a:off x="540023" y="424309"/>
            <a:ext cx="362322" cy="117202"/>
          </a:xfrm>
          <a:prstGeom prst="roundRect">
            <a:avLst>
              <a:gd fmla="val 78994" name="adj"/>
            </a:avLst>
          </a:prstGeom>
          <a:solidFill>
            <a:srgbClr val="004D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2"/>
          <p:cNvSpPr/>
          <p:nvPr/>
        </p:nvSpPr>
        <p:spPr>
          <a:xfrm>
            <a:off x="586308" y="447452"/>
            <a:ext cx="726951" cy="709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450"/>
              <a:buFont typeface="Barlow"/>
              <a:buNone/>
            </a:pPr>
            <a:r>
              <a:rPr b="0" i="0" lang="en-US" sz="45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ROADMAP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2"/>
          <p:cNvSpPr/>
          <p:nvPr/>
        </p:nvSpPr>
        <p:spPr>
          <a:xfrm>
            <a:off x="540023" y="556915"/>
            <a:ext cx="8063954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1350"/>
              <a:buFont typeface="Spline Sans"/>
              <a:buNone/>
            </a:pPr>
            <a:r>
              <a:rPr b="1" i="0" lang="en-US" sz="1350" u="none" cap="none" strike="noStrik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MVP Pillars &amp; Engine Architecture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2"/>
          <p:cNvSpPr/>
          <p:nvPr/>
        </p:nvSpPr>
        <p:spPr>
          <a:xfrm>
            <a:off x="540025" y="1272650"/>
            <a:ext cx="3783000" cy="5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650"/>
              <a:buFont typeface="Spline Sans"/>
              <a:buNone/>
            </a:pPr>
            <a:r>
              <a:rPr b="1" i="0" lang="en-US" sz="3050" u="none" cap="none" strike="noStrik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MVP Pillars</a:t>
            </a:r>
            <a:endParaRPr b="0" i="0" sz="3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2"/>
          <p:cNvSpPr/>
          <p:nvPr/>
        </p:nvSpPr>
        <p:spPr>
          <a:xfrm>
            <a:off x="540023" y="2197894"/>
            <a:ext cx="154260" cy="96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600"/>
              <a:buFont typeface="Spline Sans Light"/>
              <a:buNone/>
            </a:pPr>
            <a:r>
              <a:rPr b="0" i="0" lang="en-US" sz="600" u="none" cap="none" strike="noStrike">
                <a:solidFill>
                  <a:srgbClr val="E0E4E6"/>
                </a:solidFill>
                <a:latin typeface="Spline Sans Light"/>
                <a:ea typeface="Spline Sans Light"/>
                <a:cs typeface="Spline Sans Light"/>
                <a:sym typeface="Spline Sans Light"/>
              </a:rPr>
              <a:t>01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2"/>
          <p:cNvSpPr/>
          <p:nvPr/>
        </p:nvSpPr>
        <p:spPr>
          <a:xfrm>
            <a:off x="540023" y="2319486"/>
            <a:ext cx="3937918" cy="9525"/>
          </a:xfrm>
          <a:prstGeom prst="rect">
            <a:avLst/>
          </a:prstGeom>
          <a:solidFill>
            <a:srgbClr val="16FF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2"/>
          <p:cNvSpPr/>
          <p:nvPr/>
        </p:nvSpPr>
        <p:spPr>
          <a:xfrm>
            <a:off x="540023" y="2377083"/>
            <a:ext cx="3937918" cy="925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600"/>
              <a:buFont typeface="Barlow"/>
              <a:buNone/>
            </a:pPr>
            <a:r>
              <a:rPr b="1" i="0" lang="en-US" sz="10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Block Sandbox</a:t>
            </a:r>
            <a:r>
              <a:rPr b="0" i="0" lang="en-US" sz="10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— Isolated competition environments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2"/>
          <p:cNvSpPr/>
          <p:nvPr/>
        </p:nvSpPr>
        <p:spPr>
          <a:xfrm>
            <a:off x="540023" y="2566020"/>
            <a:ext cx="154260" cy="96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600"/>
              <a:buFont typeface="Spline Sans Light"/>
              <a:buNone/>
            </a:pPr>
            <a:r>
              <a:rPr b="0" i="0" lang="en-US" sz="600" u="none" cap="none" strike="noStrike">
                <a:solidFill>
                  <a:srgbClr val="E0E4E6"/>
                </a:solidFill>
                <a:latin typeface="Spline Sans Light"/>
                <a:ea typeface="Spline Sans Light"/>
                <a:cs typeface="Spline Sans Light"/>
                <a:sym typeface="Spline Sans Light"/>
              </a:rPr>
              <a:t>02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2"/>
          <p:cNvSpPr/>
          <p:nvPr/>
        </p:nvSpPr>
        <p:spPr>
          <a:xfrm>
            <a:off x="540023" y="2687613"/>
            <a:ext cx="3937918" cy="9525"/>
          </a:xfrm>
          <a:prstGeom prst="rect">
            <a:avLst/>
          </a:prstGeom>
          <a:solidFill>
            <a:srgbClr val="29DD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2"/>
          <p:cNvSpPr/>
          <p:nvPr/>
        </p:nvSpPr>
        <p:spPr>
          <a:xfrm>
            <a:off x="540023" y="2745209"/>
            <a:ext cx="3937918" cy="925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600"/>
              <a:buFont typeface="Barlow"/>
              <a:buNone/>
            </a:pPr>
            <a:r>
              <a:rPr b="1" i="0" lang="en-US" sz="8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Context Indexing</a:t>
            </a:r>
            <a:r>
              <a:rPr b="0" i="0" lang="en-US" sz="8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— Structured metadata parsing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540023" y="2934146"/>
            <a:ext cx="154260" cy="96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600"/>
              <a:buFont typeface="Spline Sans Light"/>
              <a:buNone/>
            </a:pPr>
            <a:r>
              <a:rPr b="0" i="0" lang="en-US" sz="600" u="none" cap="none" strike="noStrike">
                <a:solidFill>
                  <a:srgbClr val="E0E4E6"/>
                </a:solidFill>
                <a:latin typeface="Spline Sans Light"/>
                <a:ea typeface="Spline Sans Light"/>
                <a:cs typeface="Spline Sans Light"/>
                <a:sym typeface="Spline Sans Light"/>
              </a:rPr>
              <a:t>03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540023" y="3055739"/>
            <a:ext cx="3937918" cy="9525"/>
          </a:xfrm>
          <a:prstGeom prst="rect">
            <a:avLst/>
          </a:prstGeom>
          <a:solidFill>
            <a:srgbClr val="37A7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2"/>
          <p:cNvSpPr/>
          <p:nvPr/>
        </p:nvSpPr>
        <p:spPr>
          <a:xfrm>
            <a:off x="540023" y="3113336"/>
            <a:ext cx="3937918" cy="925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600"/>
              <a:buFont typeface="Barlow"/>
              <a:buNone/>
            </a:pPr>
            <a:r>
              <a:rPr b="1" i="0" lang="en-US" sz="10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Smart Redirect Framework</a:t>
            </a:r>
            <a:r>
              <a:rPr b="0" i="0" lang="en-US" sz="10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— One-click tool handoffs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2"/>
          <p:cNvSpPr/>
          <p:nvPr/>
        </p:nvSpPr>
        <p:spPr>
          <a:xfrm>
            <a:off x="540023" y="3302273"/>
            <a:ext cx="154260" cy="96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600"/>
              <a:buFont typeface="Spline Sans Light"/>
              <a:buNone/>
            </a:pPr>
            <a:r>
              <a:rPr b="0" i="0" lang="en-US" sz="600" u="none" cap="none" strike="noStrike">
                <a:solidFill>
                  <a:srgbClr val="E0E4E6"/>
                </a:solidFill>
                <a:latin typeface="Spline Sans Light"/>
                <a:ea typeface="Spline Sans Light"/>
                <a:cs typeface="Spline Sans Light"/>
                <a:sym typeface="Spline Sans Light"/>
              </a:rPr>
              <a:t>04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2"/>
          <p:cNvSpPr/>
          <p:nvPr/>
        </p:nvSpPr>
        <p:spPr>
          <a:xfrm>
            <a:off x="540023" y="3423865"/>
            <a:ext cx="3937918" cy="9525"/>
          </a:xfrm>
          <a:prstGeom prst="rect">
            <a:avLst/>
          </a:prstGeom>
          <a:solidFill>
            <a:srgbClr val="0912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2"/>
          <p:cNvSpPr/>
          <p:nvPr/>
        </p:nvSpPr>
        <p:spPr>
          <a:xfrm>
            <a:off x="540025" y="3481433"/>
            <a:ext cx="39378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600"/>
              <a:buFont typeface="Barlow"/>
              <a:buNone/>
            </a:pPr>
            <a:r>
              <a:rPr b="1" i="0" lang="en-US" sz="10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Deadline Hooks</a:t>
            </a:r>
            <a:r>
              <a:rPr b="0" i="0" lang="en-US" sz="10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— Automated schedule tracking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540023" y="3670399"/>
            <a:ext cx="154260" cy="96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600"/>
              <a:buFont typeface="Spline Sans Light"/>
              <a:buNone/>
            </a:pPr>
            <a:r>
              <a:rPr b="0" i="0" lang="en-US" sz="600" u="none" cap="none" strike="noStrike">
                <a:solidFill>
                  <a:srgbClr val="E0E4E6"/>
                </a:solidFill>
                <a:latin typeface="Spline Sans Light"/>
                <a:ea typeface="Spline Sans Light"/>
                <a:cs typeface="Spline Sans Light"/>
                <a:sym typeface="Spline Sans Light"/>
              </a:rPr>
              <a:t>05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2"/>
          <p:cNvSpPr/>
          <p:nvPr/>
        </p:nvSpPr>
        <p:spPr>
          <a:xfrm>
            <a:off x="540023" y="3791992"/>
            <a:ext cx="3937918" cy="9525"/>
          </a:xfrm>
          <a:prstGeom prst="rect">
            <a:avLst/>
          </a:prstGeom>
          <a:solidFill>
            <a:srgbClr val="16FF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2"/>
          <p:cNvSpPr/>
          <p:nvPr/>
        </p:nvSpPr>
        <p:spPr>
          <a:xfrm>
            <a:off x="540025" y="3849612"/>
            <a:ext cx="39378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600"/>
              <a:buFont typeface="Barlow"/>
              <a:buNone/>
            </a:pPr>
            <a:r>
              <a:rPr b="1" i="0" lang="en-US" sz="10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Output Vault</a:t>
            </a:r>
            <a:r>
              <a:rPr b="0" i="0" lang="en-US" sz="10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— Persistent asset archive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4883525" y="375817"/>
            <a:ext cx="39378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650"/>
              <a:buFont typeface="Spline Sans"/>
              <a:buNone/>
            </a:pPr>
            <a:r>
              <a:rPr b="1" i="0" lang="en-US" sz="1350" u="none" cap="none" strike="noStrik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Architecture Principle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4883525" y="590033"/>
            <a:ext cx="3937800" cy="5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FFBB"/>
              </a:buClr>
              <a:buSzPts val="600"/>
              <a:buFont typeface="Barlow"/>
              <a:buNone/>
            </a:pPr>
            <a:r>
              <a:rPr b="1" i="0" lang="en-US" sz="1100" u="none" cap="none" strike="noStrike">
                <a:solidFill>
                  <a:srgbClr val="16FFBB"/>
                </a:solidFill>
                <a:latin typeface="Barlow"/>
                <a:ea typeface="Barlow"/>
                <a:cs typeface="Barlow"/>
                <a:sym typeface="Barlow"/>
              </a:rPr>
              <a:t>Token-optimized infrastructure</a:t>
            </a:r>
            <a:r>
              <a:rPr b="0" i="0" lang="en-US" sz="11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passes only relevant context slices to downstream tools — minimizing API costs while maximizing alignment.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0" name="Google Shape;21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06072" y="1190647"/>
            <a:ext cx="3937918" cy="39379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6" name="Google Shape;21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3"/>
          <p:cNvSpPr/>
          <p:nvPr/>
        </p:nvSpPr>
        <p:spPr>
          <a:xfrm>
            <a:off x="3969023" y="460102"/>
            <a:ext cx="999679" cy="219819"/>
          </a:xfrm>
          <a:prstGeom prst="roundRect">
            <a:avLst>
              <a:gd fmla="val 78971" name="adj"/>
            </a:avLst>
          </a:prstGeom>
          <a:solidFill>
            <a:srgbClr val="004D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3"/>
          <p:cNvSpPr/>
          <p:nvPr/>
        </p:nvSpPr>
        <p:spPr>
          <a:xfrm>
            <a:off x="4055790" y="503486"/>
            <a:ext cx="1283345" cy="1330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900"/>
              <a:buFont typeface="Barlow"/>
              <a:buNone/>
            </a:pPr>
            <a:r>
              <a:rPr b="0" i="0" lang="en-US" sz="9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JOIN THE VAULT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3"/>
          <p:cNvSpPr/>
          <p:nvPr/>
        </p:nvSpPr>
        <p:spPr>
          <a:xfrm>
            <a:off x="3969023" y="734169"/>
            <a:ext cx="4634954" cy="803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2500"/>
              <a:buFont typeface="Spline Sans"/>
              <a:buNone/>
            </a:pPr>
            <a:r>
              <a:rPr b="1" i="0" lang="en-US" sz="2500" u="none" cap="none" strike="noStrik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From Raw Concept to Submission-Ready Prototype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3"/>
          <p:cNvSpPr/>
          <p:nvPr/>
        </p:nvSpPr>
        <p:spPr>
          <a:xfrm>
            <a:off x="3969023" y="1741215"/>
            <a:ext cx="4634954" cy="11090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3450"/>
              <a:buFont typeface="Spline Sans"/>
              <a:buNone/>
            </a:pPr>
            <a:r>
              <a:rPr b="1" i="0" lang="en-US" sz="3450" u="none" cap="none" strike="noStrik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One source of truth. Zero context tax.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3"/>
          <p:cNvSpPr/>
          <p:nvPr/>
        </p:nvSpPr>
        <p:spPr>
          <a:xfrm>
            <a:off x="3969023" y="3053655"/>
            <a:ext cx="4634954" cy="1629668"/>
          </a:xfrm>
          <a:prstGeom prst="roundRect">
            <a:avLst>
              <a:gd fmla="val 13315" name="adj"/>
            </a:avLst>
          </a:prstGeom>
          <a:solidFill>
            <a:srgbClr val="0A081B"/>
          </a:solidFill>
          <a:ln cap="flat" cmpd="sng" w="14275">
            <a:solidFill>
              <a:srgbClr val="16FF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3"/>
          <p:cNvSpPr/>
          <p:nvPr/>
        </p:nvSpPr>
        <p:spPr>
          <a:xfrm>
            <a:off x="3983310" y="3067943"/>
            <a:ext cx="4606379" cy="800546"/>
          </a:xfrm>
          <a:prstGeom prst="rect">
            <a:avLst/>
          </a:prstGeom>
          <a:solidFill>
            <a:srgbClr val="0A08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3"/>
          <p:cNvSpPr/>
          <p:nvPr/>
        </p:nvSpPr>
        <p:spPr>
          <a:xfrm>
            <a:off x="4127971" y="3212604"/>
            <a:ext cx="4317057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🔗</a:t>
            </a:r>
            <a:r>
              <a:rPr b="1" i="0" lang="en-US" sz="125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 HACKVAULT.DEV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3"/>
          <p:cNvSpPr/>
          <p:nvPr/>
        </p:nvSpPr>
        <p:spPr>
          <a:xfrm>
            <a:off x="4127971" y="3499619"/>
            <a:ext cx="4317057" cy="224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00"/>
              <a:buFont typeface="Barlow"/>
              <a:buNone/>
            </a:pPr>
            <a:r>
              <a:rPr b="0" i="0" lang="en-US" sz="11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Alpha access now open for competitive builders.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3"/>
          <p:cNvSpPr/>
          <p:nvPr/>
        </p:nvSpPr>
        <p:spPr>
          <a:xfrm>
            <a:off x="3983310" y="3868489"/>
            <a:ext cx="4606379" cy="800546"/>
          </a:xfrm>
          <a:prstGeom prst="rect">
            <a:avLst/>
          </a:prstGeom>
          <a:solidFill>
            <a:srgbClr val="0A08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3"/>
          <p:cNvSpPr/>
          <p:nvPr/>
        </p:nvSpPr>
        <p:spPr>
          <a:xfrm>
            <a:off x="3983310" y="3868489"/>
            <a:ext cx="4606379" cy="19050"/>
          </a:xfrm>
          <a:prstGeom prst="roundRect">
            <a:avLst>
              <a:gd fmla="val 1139064" name="adj"/>
            </a:avLst>
          </a:prstGeom>
          <a:solidFill>
            <a:srgbClr val="0FC3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3"/>
          <p:cNvSpPr/>
          <p:nvPr/>
        </p:nvSpPr>
        <p:spPr>
          <a:xfrm>
            <a:off x="4127971" y="4013150"/>
            <a:ext cx="4317057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🚀</a:t>
            </a:r>
            <a:r>
              <a:rPr b="1" i="0" lang="en-US" sz="125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 Alpha Access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3"/>
          <p:cNvSpPr/>
          <p:nvPr/>
        </p:nvSpPr>
        <p:spPr>
          <a:xfrm>
            <a:off x="4127971" y="4300165"/>
            <a:ext cx="4317057" cy="224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00"/>
              <a:buFont typeface="Barlow"/>
              <a:buNone/>
            </a:pPr>
            <a:r>
              <a:rPr b="0" i="0" lang="en-US" sz="11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Early adopters get Premium features at launch pricing.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3"/>
          <p:cNvSpPr/>
          <p:nvPr/>
        </p:nvSpPr>
        <p:spPr>
          <a:xfrm>
            <a:off x="8012700" y="4813700"/>
            <a:ext cx="1131300" cy="329700"/>
          </a:xfrm>
          <a:prstGeom prst="roundRect">
            <a:avLst>
              <a:gd fmla="val 16667" name="adj"/>
            </a:avLst>
          </a:prstGeom>
          <a:solidFill>
            <a:srgbClr val="070614"/>
          </a:solidFill>
          <a:ln cap="flat" cmpd="sng" w="9525">
            <a:solidFill>
              <a:srgbClr val="0706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